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7C3AE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FY 2026</c:v>
                </c:pt>
                <c:pt idx="1">
                  <c:v>FY 2027</c:v>
                </c:pt>
                <c:pt idx="2">
                  <c:v>FY 2028</c:v>
                </c:pt>
                <c:pt idx="3">
                  <c:v>FY 2029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48798.5</c:v>
                </c:pt>
                <c:pt idx="1">
                  <c:v>389768</c:v>
                </c:pt>
                <c:pt idx="2">
                  <c:v>1451400</c:v>
                </c:pt>
                <c:pt idx="3">
                  <c:v>4039980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7C3AE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Light</c:v>
                </c:pt>
              </c:strCache>
            </c:strRef>
          </c:tx>
          <c:spPr>
            <a:solidFill>
              <a:srgbClr val="0077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120</c:v>
                </c:pt>
                <c:pt idx="2">
                  <c:v>400</c:v>
                </c:pt>
                <c:pt idx="3">
                  <c:v>800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</c:v>
                </c:pt>
                <c:pt idx="1">
                  <c:v>55</c:v>
                </c:pt>
                <c:pt idx="2">
                  <c:v>200</c:v>
                </c:pt>
                <c:pt idx="3">
                  <c:v>500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11</c:v>
                </c:pt>
                <c:pt idx="1">
                  <c:v>30</c:v>
                </c:pt>
                <c:pt idx="2">
                  <c:v>80</c:v>
                </c:pt>
                <c:pt idx="3">
                  <c:v>200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Enterprise</c:v>
                </c:pt>
              </c:strCache>
            </c:strRef>
          </c:tx>
          <c:spPr>
            <a:solidFill>
              <a:srgbClr val="FACC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FY26</c:v>
                </c:pt>
                <c:pt idx="1">
                  <c:v>FY27</c:v>
                </c:pt>
                <c:pt idx="2">
                  <c:v>FY28</c:v>
                </c:pt>
                <c:pt idx="3">
                  <c:v>FY29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2</c:v>
                </c:pt>
                <c:pt idx="1">
                  <c:v>8</c:v>
                </c:pt>
                <c:pt idx="2">
                  <c:v>20</c:v>
                </c:pt>
                <c:pt idx="3">
                  <c:v>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0A1628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914400"/>
            <a:ext cx="3200400" cy="32004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74320"/>
            <a:ext cx="2194560" cy="292608"/>
          </a:xfrm>
          <a:prstGeom prst="roundRect">
            <a:avLst>
              <a:gd name="adj" fmla="val 31250"/>
            </a:avLst>
          </a:prstGeom>
          <a:solidFill>
            <a:srgbClr val="FACC15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TO DATE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We've Spent to Build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Pre-revenue investment: bootstrapped with minimal capital.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5029200" cy="6400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18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Development Team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61848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$9,600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9202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~$1,200/mo × 8 months · Q4 2025 through Q2 2026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5029200" cy="6400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95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&amp; Infrastructure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395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$4,640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$2,400 + Git/AI $800 + GCP $800 + Gemini $240 + misc $400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5029200" cy="6400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729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Ads (Recruiting + Funnel Tests)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317296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$1,000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acquisition channels while building product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5029200" cy="502920"/>
          </a:xfrm>
          <a:prstGeom prst="rect">
            <a:avLst/>
          </a:prstGeom>
          <a:solidFill>
            <a:srgbClr val="7C3AED">
              <a:alpha val="10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95020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Salary (unpaid): $24,000 equivalent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" y="417880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$3,000/mo × 8 months · not counted as cash spend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760720" y="1600200"/>
            <a:ext cx="3017520" cy="1280160"/>
          </a:xfrm>
          <a:prstGeom prst="rect">
            <a:avLst/>
          </a:prstGeom>
          <a:solidFill>
            <a:srgbClr val="1A0D3E"/>
          </a:solidFill>
          <a:ln/>
        </p:spPr>
      </p:sp>
      <p:sp>
        <p:nvSpPr>
          <p:cNvPr id="23" name="Text 21"/>
          <p:cNvSpPr/>
          <p:nvPr/>
        </p:nvSpPr>
        <p:spPr>
          <a:xfrm>
            <a:off x="5760720" y="16459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CASH SPENT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760720" y="1920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$15,240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5760720" y="24688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Since Q4 2025 · bootstrapped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760720" y="3108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Built: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760720" y="342900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Campaign Builder (live)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0720" y="364845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AI Receipt &amp; Win (live)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760720" y="3867912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OTP &amp; Win (live)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760720" y="4087368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 Game Template (Catch the Mango)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4306824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169 FMCG prospects mapped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760720" y="4526280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Ahmed Mango partnership signed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760720" y="4745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18 customers by Q4 2026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2468880" cy="292608"/>
          </a:xfrm>
          <a:prstGeom prst="roundRect">
            <a:avLst>
              <a:gd name="adj" fmla="val 31250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Revenue &amp; Growth Trajectory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$0 to $4M+ ARR in 3 years. Profitable from Year 1.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7160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212080" y="141732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5349240" y="143560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$49K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583680" y="14356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Revenue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583680" y="169164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customers · bootstrapped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5212080" y="219456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5349240" y="221284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$390K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583680" y="22128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 Revenue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58368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229 customers · post-raise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212080" y="2971800"/>
            <a:ext cx="356616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5349240" y="299008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$1.45M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583680" y="29900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FY28 Revenue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583680" y="32461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846 customers · Egypt+GCC+NA</a:t>
            </a:r>
            <a:endParaRPr lang="en-US" sz="800" dirty="0"/>
          </a:p>
        </p:txBody>
      </p:sp>
      <p:sp>
        <p:nvSpPr>
          <p:cNvPr id="19" name="Shape 16"/>
          <p:cNvSpPr/>
          <p:nvPr/>
        </p:nvSpPr>
        <p:spPr>
          <a:xfrm>
            <a:off x="5212080" y="3749040"/>
            <a:ext cx="3566160" cy="64008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349240" y="376732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$4.04M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6583680" y="376732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FY29 Revenue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583680" y="40233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2,092 customers · scale mode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ECFDF5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365760" y="4434840"/>
            <a:ext cx="54864" cy="50292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640080" y="445312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from FY26 ($17K net).  FY29 Net Income: $3.49M  ·  Margin: 86%  ·  Closing Cash: $5.70M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920240" cy="292608"/>
          </a:xfrm>
          <a:prstGeom prst="roundRect">
            <a:avLst>
              <a:gd name="adj" fmla="val 31250"/>
            </a:avLst>
          </a:prstGeom>
          <a:solidFill>
            <a:srgbClr val="FACC15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7432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GROWTH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 → 2092 Customers in 4 Years</a:t>
            </a:r>
            <a:endParaRPr lang="en-US" sz="3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28016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5669280" y="12801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Geographic Split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577840" y="1737360"/>
            <a:ext cx="3291840" cy="82296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8" name="Shape 5"/>
          <p:cNvSpPr/>
          <p:nvPr/>
        </p:nvSpPr>
        <p:spPr>
          <a:xfrm>
            <a:off x="5577840" y="1737360"/>
            <a:ext cx="45720" cy="822960"/>
          </a:xfrm>
          <a:prstGeom prst="rect">
            <a:avLst/>
          </a:prstGeom>
          <a:solidFill>
            <a:srgbClr val="0077FF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760720" y="17556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Egypt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60720" y="2057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FY27: 170  ·  FY28: 360  ·  FY29: 670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2743200"/>
            <a:ext cx="3291840" cy="82296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577840" y="2743200"/>
            <a:ext cx="45720" cy="822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760720" y="27614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🏘️ GCC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60720" y="3063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FY27: 43  ·  FY28: 263  ·  FY29: 705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3749040"/>
            <a:ext cx="3291840" cy="82296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16" name="Shape 13"/>
          <p:cNvSpPr/>
          <p:nvPr/>
        </p:nvSpPr>
        <p:spPr>
          <a:xfrm>
            <a:off x="5577840" y="3749040"/>
            <a:ext cx="45720" cy="8229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5760720" y="37673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N. Africa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60720" y="4069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FY27: 0  ·  FY28: 77  ·  FY29: 175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4572000"/>
            <a:ext cx="3291840" cy="41148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5760720" y="4590288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FY29 Total: 1,550 businesses across 3 regions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280160" cy="292608"/>
          </a:xfrm>
          <a:prstGeom prst="roundRect">
            <a:avLst>
              <a:gd name="adj" fmla="val 31250"/>
            </a:avLst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Proof Before Raise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Revenue-generating before asking for money.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65960" cy="1188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6576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Paying Customers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end of FY26 (pre-raise)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14600" y="1463040"/>
            <a:ext cx="1965960" cy="1188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51460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$49K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51460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FY26 Revenue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1460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bootstrapped, no funding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463040"/>
            <a:ext cx="1965960" cy="1188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66344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$17K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Positive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from year 1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812280" y="1463040"/>
            <a:ext cx="1965960" cy="1188720"/>
          </a:xfrm>
          <a:prstGeom prst="rect">
            <a:avLst/>
          </a:prstGeom>
          <a:solidFill>
            <a:srgbClr val="EDE9FE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12280" y="146304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812280" y="20574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812280" y="2286000"/>
            <a:ext cx="1965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SaaS + OTP + campaigns + custom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486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Live &amp; Generating Revenue: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57200" y="338328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64008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 Mango signed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2M+ followers, Catch the Mango game built &amp; playable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57200" y="411480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4008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sponsor selling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EGP 385-460K package, GTM campaign live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38328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754880" y="338328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4937760" y="34015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customers by Q4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37760" y="36576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in Q2, 6 in Q3, 9 in Q4 — organic sales, no sales team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114800"/>
            <a:ext cx="39319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754880" y="4114800"/>
            <a:ext cx="45720" cy="594360"/>
          </a:xfrm>
          <a:prstGeom prst="rect">
            <a:avLst/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937760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Revenue: $49K FY26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937760" y="438912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$0 → profitable without any external funding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-1371600"/>
            <a:ext cx="3657600" cy="3657600"/>
          </a:xfrm>
          <a:prstGeom prst="ellipse">
            <a:avLst/>
          </a:prstGeom>
          <a:solidFill>
            <a:srgbClr val="7C3AED">
              <a:alpha val="3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548640" y="274320"/>
            <a:ext cx="1188720" cy="292608"/>
          </a:xfrm>
          <a:prstGeom prst="roundRect">
            <a:avLst>
              <a:gd name="adj" fmla="val 31250"/>
            </a:avLst>
          </a:prstGeom>
          <a:solidFill>
            <a:srgbClr val="FACC15">
              <a:alpha val="2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48640" y="27432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Raising $1M Pre-Seed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freelancers built the MVP. Now we hire full-time talent and establish the company.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4572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92024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193852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$550K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88720" y="212140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Freelancers → full-time hires with higher caliber. CEO, CCO, Eng Manager, Sr Dev, Jr Dev, UAT, BD, PM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572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42316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44144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244144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$200K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62432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CAC, ads, agency fees, influencer packaged campaigns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4572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48640" y="292608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88720" y="29443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294436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$120K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88720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Infrastructure, tools, 5+ game templates, POS integrations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57200" y="3429000"/>
            <a:ext cx="4572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548640" y="342900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88720" y="344728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657600" y="344728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$80K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88720" y="363016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incorporation, office, legal, travel &amp; BD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457200" y="3931920"/>
            <a:ext cx="4572000" cy="411480"/>
          </a:xfrm>
          <a:prstGeom prst="rect">
            <a:avLst/>
          </a:prstGeom>
          <a:solidFill>
            <a:srgbClr val="7C3AED">
              <a:alpha val="20000"/>
            </a:srgbClr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39319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88720" y="395020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0" y="3950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$50K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88720" y="413308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Buffer for unexpected costs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03520" y="1554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$1M Changes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303520" y="1920240"/>
            <a:ext cx="3474720" cy="45720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40680" y="19476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 Freelancers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537960" y="194767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6858000" y="1947672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 Full-Time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40680" y="2167128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Quality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5303520" y="2487168"/>
            <a:ext cx="3474720" cy="45720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440680" y="25146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Company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537960" y="251460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858000" y="25146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Incorporated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40680" y="2734056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 &amp; Structure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03520" y="3054096"/>
            <a:ext cx="3474720" cy="45720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5440680" y="3081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18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537960" y="308152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858000" y="3081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229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440680" y="330098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FY27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5303520" y="3621024"/>
            <a:ext cx="3474720" cy="45720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5440680" y="364845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$49K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537960" y="3648456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858000" y="364845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$390K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5440680" y="3867912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FY27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5303520" y="4187952"/>
            <a:ext cx="3474720" cy="457200"/>
          </a:xfrm>
          <a:prstGeom prst="rect">
            <a:avLst/>
          </a:prstGeom>
          <a:solidFill>
            <a:srgbClr val="1A0D3E"/>
          </a:solidFill>
          <a:ln/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440680" y="421538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Egypt only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537960" y="421538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858000" y="421538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Egypt + GCC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40680" y="443484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457200" y="4617720"/>
            <a:ext cx="8321040" cy="411480"/>
          </a:xfrm>
          <a:prstGeom prst="rect">
            <a:avLst/>
          </a:prstGeom>
          <a:solidFill>
            <a:srgbClr val="7C3AED">
              <a:alpha val="40000"/>
            </a:srgbClr>
          </a:solidFill>
          <a:ln/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640080" y="463600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months runway  ·  Profitable by FY27  ·  Path to $4.04M ARR by FY29 without additional raise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28600"/>
            <a:ext cx="1463040" cy="292608"/>
          </a:xfrm>
          <a:prstGeom prst="roundRect">
            <a:avLst>
              <a:gd name="adj" fmla="val 31250"/>
            </a:avLst>
          </a:prstGeom>
          <a:solidFill>
            <a:srgbClr val="0077FF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2860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7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MILESTONES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548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0A16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12-Month Milestones Post-Raise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deliver in the first year after funding (FY 2027).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229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6012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Customers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0292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18 → 229 paying businesses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 Egypt + 43 GCC (UAE launch)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246120" y="14630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160020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8404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$390K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84048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Revenue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338328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8× growth from FY26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 SaaS + 14% campaigns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6126480" y="146304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0020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208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$118K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720840" y="18745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Profit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6263640" y="219456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Profitable with $1.14M cash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18+ months runway remaining</a:t>
            </a:r>
            <a:endParaRPr lang="en-US" sz="800" dirty="0"/>
          </a:p>
        </p:txBody>
      </p:sp>
      <p:sp>
        <p:nvSpPr>
          <p:cNvPr id="21" name="Shape 16"/>
          <p:cNvSpPr/>
          <p:nvPr/>
        </p:nvSpPr>
        <p:spPr>
          <a:xfrm>
            <a:off x="365760" y="3154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918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6012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6012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Templates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50292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1 → 3 playable games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POS integration pilot</a:t>
            </a:r>
            <a:endParaRPr lang="en-US" sz="800" dirty="0"/>
          </a:p>
        </p:txBody>
      </p:sp>
      <p:sp>
        <p:nvSpPr>
          <p:cNvPr id="26" name="Shape 20"/>
          <p:cNvSpPr/>
          <p:nvPr/>
        </p:nvSpPr>
        <p:spPr>
          <a:xfrm>
            <a:off x="3246120" y="3154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83280" y="32918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84048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200" dirty="0"/>
          </a:p>
        </p:txBody>
      </p:sp>
      <p:sp>
        <p:nvSpPr>
          <p:cNvPr id="29" name="Text 22"/>
          <p:cNvSpPr/>
          <p:nvPr/>
        </p:nvSpPr>
        <p:spPr>
          <a:xfrm>
            <a:off x="384048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Markets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338328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Egypt + UAE live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KSA pilot in progress</a:t>
            </a:r>
            <a:endParaRPr lang="en-US" sz="800" dirty="0"/>
          </a:p>
        </p:txBody>
      </p:sp>
      <p:sp>
        <p:nvSpPr>
          <p:cNvPr id="31" name="Shape 24"/>
          <p:cNvSpPr/>
          <p:nvPr/>
        </p:nvSpPr>
        <p:spPr>
          <a:xfrm>
            <a:off x="6126480" y="3154680"/>
            <a:ext cx="26517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  <p:txBody>
          <a:bodyPr/>
          <a:p/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291840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720840" y="3246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6720840" y="3566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Full-Time Team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263640" y="38862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 + CCO + Eng Manager + 4 devs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BD + PM + Marketing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74320"/>
            <a:ext cx="1828800" cy="292608"/>
          </a:xfrm>
          <a:prstGeom prst="roundRect">
            <a:avLst>
              <a:gd name="adj" fmla="val 31250"/>
            </a:avLst>
          </a:prstGeom>
          <a:solidFill>
            <a:srgbClr val="FACC15">
              <a:alpha val="20000"/>
            </a:srgbClr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274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ACC1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ECONOMICS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Numbers Work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41148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$50-$1K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 by Tier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Light: $50 · Growth: $100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$250 · Enterprise: $1,000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0" y="137160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3756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$160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3756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ARPU/mo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avg across plan mix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as Pro/Enterprise mix ↑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263640" y="146304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63640" y="18745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Churn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63640" y="214884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assumption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&lt;2% at scale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74320" y="306324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1148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33 mo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1148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LTV Duration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3% monthly churn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33 months avg lifetime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200400" y="306324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33756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$5,364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3756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LTV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3756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$160 ARPU × 33 months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Grows with upsell + retention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126480" y="3063240"/>
            <a:ext cx="2697480" cy="1463040"/>
          </a:xfrm>
          <a:prstGeom prst="rect">
            <a:avLst/>
          </a:prstGeom>
          <a:solidFill>
            <a:srgbClr val="7C3AED">
              <a:alpha val="25000"/>
            </a:srgbClr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63640" y="31546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ACC1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11-55×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356616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LTV:CAC Ratio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63640" y="38404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Light: 55× · Growth: 33×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Pro: 22× · Enterprise: 11×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Rishca OS — Financial Slides</dc:title>
  <dc:subject>PptxGenJS Presentation</dc:subject>
  <dc:creator>Aly Zeineldin</dc:creator>
  <cp:lastModifiedBy>Aly Zeineldin</cp:lastModifiedBy>
  <cp:revision>1</cp:revision>
  <dcterms:created xsi:type="dcterms:W3CDTF">2026-03-19T01:53:08Z</dcterms:created>
  <dcterms:modified xsi:type="dcterms:W3CDTF">2026-03-19T01:53:08Z</dcterms:modified>
</cp:coreProperties>
</file>